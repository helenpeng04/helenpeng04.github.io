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8" r:id="rId3"/>
  </p:sldIdLst>
  <p:sldSz cx="9144000" cy="5143500" type="screen16x9"/>
  <p:notesSz cx="6858000" cy="9144000"/>
  <p:embeddedFontLst>
    <p:embeddedFont>
      <p:font typeface="Proxima Nova" panose="020B0604020202020204" charset="0"/>
      <p:regular r:id="rId5"/>
      <p:bold r:id="rId6"/>
      <p:italic r:id="rId7"/>
      <p:boldItalic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969" autoAdjust="0"/>
  </p:normalViewPr>
  <p:slideViewPr>
    <p:cSldViewPr snapToGrid="0">
      <p:cViewPr>
        <p:scale>
          <a:sx n="108" d="100"/>
          <a:sy n="108" d="100"/>
        </p:scale>
        <p:origin x="620" y="-4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len Peng" userId="ac02228ecd4a4389" providerId="LiveId" clId="{8E0101FE-18BC-4BD3-8793-74F0CDA4B5B7}"/>
    <pc:docChg chg="undo custSel modSld">
      <pc:chgData name="Helen Peng" userId="ac02228ecd4a4389" providerId="LiveId" clId="{8E0101FE-18BC-4BD3-8793-74F0CDA4B5B7}" dt="2025-02-10T23:43:02.696" v="3" actId="113"/>
      <pc:docMkLst>
        <pc:docMk/>
      </pc:docMkLst>
      <pc:sldChg chg="modSp mod">
        <pc:chgData name="Helen Peng" userId="ac02228ecd4a4389" providerId="LiveId" clId="{8E0101FE-18BC-4BD3-8793-74F0CDA4B5B7}" dt="2025-02-10T23:43:02.696" v="3" actId="113"/>
        <pc:sldMkLst>
          <pc:docMk/>
          <pc:sldMk cId="0" sldId="256"/>
        </pc:sldMkLst>
        <pc:spChg chg="mod">
          <ac:chgData name="Helen Peng" userId="ac02228ecd4a4389" providerId="LiveId" clId="{8E0101FE-18BC-4BD3-8793-74F0CDA4B5B7}" dt="2025-02-10T23:43:02.696" v="3" actId="113"/>
          <ac:spMkLst>
            <pc:docMk/>
            <pc:sldMk cId="0" sldId="256"/>
            <ac:spMk id="60" creationId="{00000000-0000-0000-0000-000000000000}"/>
          </ac:spMkLst>
        </pc:spChg>
      </pc:sldChg>
      <pc:sldChg chg="modNotesTx">
        <pc:chgData name="Helen Peng" userId="ac02228ecd4a4389" providerId="LiveId" clId="{8E0101FE-18BC-4BD3-8793-74F0CDA4B5B7}" dt="2025-02-03T19:16:57.875" v="1" actId="20577"/>
        <pc:sldMkLst>
          <pc:docMk/>
          <pc:sldMk cId="0" sldId="258"/>
        </pc:sldMkLst>
      </pc:sldChg>
    </pc:docChg>
  </pc:docChgLst>
  <pc:docChgLst>
    <pc:chgData name="Helen Peng" userId="ac02228ecd4a4389" providerId="LiveId" clId="{74C15F6B-18B5-4FBC-9172-C0EF67155663}"/>
    <pc:docChg chg="undo custSel delSld modSld">
      <pc:chgData name="Helen Peng" userId="ac02228ecd4a4389" providerId="LiveId" clId="{74C15F6B-18B5-4FBC-9172-C0EF67155663}" dt="2025-04-07T15:54:24.739" v="266" actId="20577"/>
      <pc:docMkLst>
        <pc:docMk/>
      </pc:docMkLst>
      <pc:sldChg chg="modNotesTx">
        <pc:chgData name="Helen Peng" userId="ac02228ecd4a4389" providerId="LiveId" clId="{74C15F6B-18B5-4FBC-9172-C0EF67155663}" dt="2025-03-31T18:19:44.005" v="0" actId="20577"/>
        <pc:sldMkLst>
          <pc:docMk/>
          <pc:sldMk cId="0" sldId="256"/>
        </pc:sldMkLst>
      </pc:sldChg>
      <pc:sldChg chg="del">
        <pc:chgData name="Helen Peng" userId="ac02228ecd4a4389" providerId="LiveId" clId="{74C15F6B-18B5-4FBC-9172-C0EF67155663}" dt="2025-04-07T15:52:39.465" v="5" actId="47"/>
        <pc:sldMkLst>
          <pc:docMk/>
          <pc:sldMk cId="0" sldId="257"/>
        </pc:sldMkLst>
      </pc:sldChg>
      <pc:sldChg chg="modSp mod modShow modNotesTx">
        <pc:chgData name="Helen Peng" userId="ac02228ecd4a4389" providerId="LiveId" clId="{74C15F6B-18B5-4FBC-9172-C0EF67155663}" dt="2025-04-07T15:54:24.739" v="266" actId="20577"/>
        <pc:sldMkLst>
          <pc:docMk/>
          <pc:sldMk cId="0" sldId="258"/>
        </pc:sldMkLst>
        <pc:picChg chg="mod">
          <ac:chgData name="Helen Peng" userId="ac02228ecd4a4389" providerId="LiveId" clId="{74C15F6B-18B5-4FBC-9172-C0EF67155663}" dt="2025-04-07T15:34:54.439" v="3" actId="1076"/>
          <ac:picMkLst>
            <pc:docMk/>
            <pc:sldMk cId="0" sldId="258"/>
            <ac:picMk id="74" creationId="{00000000-0000-0000-0000-000000000000}"/>
          </ac:picMkLst>
        </pc:picChg>
        <pc:picChg chg="mod">
          <ac:chgData name="Helen Peng" userId="ac02228ecd4a4389" providerId="LiveId" clId="{74C15F6B-18B5-4FBC-9172-C0EF67155663}" dt="2025-04-07T15:34:55.091" v="4" actId="1076"/>
          <ac:picMkLst>
            <pc:docMk/>
            <pc:sldMk cId="0" sldId="258"/>
            <ac:picMk id="75" creationId="{00000000-0000-0000-0000-000000000000}"/>
          </ac:picMkLst>
        </pc:picChg>
      </pc:sldChg>
    </pc:docChg>
  </pc:docChgLst>
  <pc:docChgLst>
    <pc:chgData name="Helen Peng" userId="ac02228ecd4a4389" providerId="LiveId" clId="{46DA5CE5-F466-4B4C-9D7B-3DCC9B7B87B6}"/>
    <pc:docChg chg="delSld">
      <pc:chgData name="Helen Peng" userId="ac02228ecd4a4389" providerId="LiveId" clId="{46DA5CE5-F466-4B4C-9D7B-3DCC9B7B87B6}" dt="2024-12-30T20:09:32.561" v="1" actId="47"/>
      <pc:docMkLst>
        <pc:docMk/>
      </pc:docMkLst>
      <pc:sldChg chg="del">
        <pc:chgData name="Helen Peng" userId="ac02228ecd4a4389" providerId="LiveId" clId="{46DA5CE5-F466-4B4C-9D7B-3DCC9B7B87B6}" dt="2024-12-30T20:09:30.885" v="0" actId="47"/>
        <pc:sldMkLst>
          <pc:docMk/>
          <pc:sldMk cId="0" sldId="259"/>
        </pc:sldMkLst>
      </pc:sldChg>
      <pc:sldChg chg="del">
        <pc:chgData name="Helen Peng" userId="ac02228ecd4a4389" providerId="LiveId" clId="{46DA5CE5-F466-4B4C-9D7B-3DCC9B7B87B6}" dt="2024-12-30T20:09:32.561" v="1" actId="47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c2ad2e2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c2ad2e2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c6bcff0bb_3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31c6bcff0bb_3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When I presented this in the lab, most members were already familiar with the study’s methodology. But for context here, I’ve included a brief overview of the methods.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b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experiment, participants began with a pretraining session, assigned to one of four conditions—mixed, </a:t>
            </a:r>
            <a:r>
              <a:rPr lang="en-US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bothgreen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bothred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or phase 1 —each with a unique relational rule that they needed to figure out. </a:t>
            </a:r>
            <a:endParaRPr lang="en-US" dirty="0"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b="0" i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mixed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condition, the rule was:  </a:t>
            </a:r>
            <a:r>
              <a:rPr lang="en-US" b="0" i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green shape is on top, then it’s true.</a:t>
            </a:r>
            <a:endParaRPr lang="en-US" dirty="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b="0" i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bothred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condition, the rule was: </a:t>
            </a:r>
            <a:r>
              <a:rPr lang="en-US" b="0" i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shape on top has fewer sides or vertices than the one on the bottom, then it’s true.</a:t>
            </a:r>
            <a:endParaRPr lang="en-US" dirty="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b="0" i="1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bothgreen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condition, the rule was: </a:t>
            </a:r>
            <a:r>
              <a:rPr lang="en-US" b="0" i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shape on top has more sides or vertices than the one on the bottom, then it’s true.</a:t>
            </a:r>
            <a:endParaRPr lang="en-US" dirty="0">
              <a:solidFill>
                <a:srgbClr val="000000"/>
              </a:solidFill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b="0" i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condition, all three rules were presented interleaved. </a:t>
            </a: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proceed, participants needed to complete either ten minutes or achieve 12 correct responses in a row. After pretraining, all participants moved to the </a:t>
            </a:r>
            <a:r>
              <a:rPr lang="en-US" b="0" i="1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session</a:t>
            </a:r>
            <a:r>
              <a:rPr lang="en-US" dirty="0">
                <a:solidFill>
                  <a:srgbClr val="000000"/>
                </a:solidFill>
              </a:rPr>
              <a:t> in which they were presented with all three rules.</a:t>
            </a: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b="0" i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for data preparation, </a:t>
            </a:r>
            <a:r>
              <a:rPr lang="en-US" dirty="0">
                <a:solidFill>
                  <a:srgbClr val="000000"/>
                </a:solidFill>
              </a:rPr>
              <a:t>I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reviewed all responses and categorized them as correct, partially correct, or incorrect.</a:t>
            </a:r>
            <a:endParaRPr lang="en-US" b="0" dirty="0"/>
          </a:p>
          <a:p>
            <a:pPr marL="45720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Criteria for partial correctness included mentioning vertices or sides for the </a:t>
            </a:r>
            <a:r>
              <a:rPr lang="en-US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bothred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b="0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bothgreen</a:t>
            </a:r>
            <a:r>
              <a:rPr lang="en-US" b="0" i="0" u="none" strike="noStrik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conditions or mentioning position</a:t>
            </a:r>
            <a:r>
              <a:rPr lang="en-US" dirty="0">
                <a:solidFill>
                  <a:srgbClr val="000000"/>
                </a:solidFill>
              </a:rPr>
              <a:t> in mixed, getting at least one rule correct for phase 1</a:t>
            </a:r>
            <a:endParaRPr lang="en-US" dirty="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</p:txBody>
      </p:sp>
      <p:sp>
        <p:nvSpPr>
          <p:cNvPr id="71" name="Google Shape;71;g31c6bcff0bb_3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OAK Lab - Relational Rule Learning</a:t>
            </a:r>
            <a:endParaRPr sz="20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Researcher: Helen Peng | Date: December 6, 2024</a:t>
            </a:r>
            <a:endParaRPr sz="2020"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5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50" b="1" dirty="0"/>
              <a:t>Objective: </a:t>
            </a:r>
            <a:r>
              <a:rPr lang="en" sz="1450" dirty="0"/>
              <a:t>Investigate how the level of understanding relational rule affect one’s ability to master tasks.</a:t>
            </a:r>
            <a:endParaRPr sz="145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" sz="1450" b="1" dirty="0"/>
              <a:t>Methods &amp; Skills Developed: </a:t>
            </a:r>
            <a:r>
              <a:rPr lang="en" sz="1450" dirty="0"/>
              <a:t>Created and applied coding scheme for responses (What was the rule?)       Utilized R for data analysis, developed hypothesis testing skills.</a:t>
            </a:r>
            <a:endParaRPr sz="1150" b="1" dirty="0"/>
          </a:p>
          <a:p>
            <a:pPr marL="3200400" lvl="0" indent="-301625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50"/>
              <a:buAutoNum type="arabicPeriod"/>
            </a:pPr>
            <a:r>
              <a:rPr lang="en" sz="1150" dirty="0"/>
              <a:t>Pre Training Phase (Easier Task):</a:t>
            </a:r>
            <a:endParaRPr sz="1150" dirty="0"/>
          </a:p>
          <a:p>
            <a:pPr marL="36576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50"/>
              <a:buChar char="-"/>
            </a:pPr>
            <a:r>
              <a:rPr lang="en" sz="1150" dirty="0"/>
              <a:t>Participants with correct rule comprehension had significantly higher mastery compared to those with partial or incorrect understanding.</a:t>
            </a:r>
            <a:endParaRPr sz="1150" dirty="0"/>
          </a:p>
          <a:p>
            <a:pPr marL="36576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50"/>
              <a:buChar char="-"/>
            </a:pPr>
            <a:r>
              <a:rPr lang="en" sz="1150" dirty="0"/>
              <a:t>Partial understanding offered no measurable benefits over incorrect comprehension.</a:t>
            </a:r>
            <a:endParaRPr sz="1150" dirty="0"/>
          </a:p>
          <a:p>
            <a:pPr marL="32004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50"/>
              <a:buAutoNum type="arabicPeriod"/>
            </a:pPr>
            <a:r>
              <a:rPr lang="en" sz="1150" dirty="0"/>
              <a:t>Phase 1 (Harder Task):</a:t>
            </a:r>
            <a:endParaRPr sz="1150" dirty="0"/>
          </a:p>
          <a:p>
            <a:pPr marL="36576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50"/>
              <a:buChar char="-"/>
            </a:pPr>
            <a:r>
              <a:rPr lang="en" sz="1150" dirty="0"/>
              <a:t>Correct group outperformed Partial and Incorrect groups.</a:t>
            </a:r>
            <a:endParaRPr sz="1150" dirty="0"/>
          </a:p>
          <a:p>
            <a:pPr marL="36576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50"/>
              <a:buChar char="-"/>
            </a:pPr>
            <a:r>
              <a:rPr lang="en" sz="1150" dirty="0"/>
              <a:t>Partial group outperformed Incorrect group.</a:t>
            </a:r>
            <a:endParaRPr sz="1150" dirty="0"/>
          </a:p>
          <a:p>
            <a:pPr marL="32004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 b="1" dirty="0"/>
              <a:t>Implications: </a:t>
            </a:r>
            <a:r>
              <a:rPr lang="en" sz="1450" dirty="0"/>
              <a:t>Easier tasks show little difference between the Partial and Incorrect groups, while harder tasks reveal gaps in understanding. </a:t>
            </a:r>
            <a:endParaRPr sz="1450" dirty="0"/>
          </a:p>
          <a:p>
            <a:pPr marL="32004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 dirty="0"/>
              <a:t>Thus, it is more important to focus on achieving full comprehension early on, especially for more complex tasks.</a:t>
            </a:r>
            <a:endParaRPr sz="1450" dirty="0"/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50" dirty="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450" dirty="0"/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00" y="2153500"/>
            <a:ext cx="3367649" cy="240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142"/>
              <a:buNone/>
            </a:pPr>
            <a:r>
              <a:rPr lang="en"/>
              <a:t>Methods</a:t>
            </a:r>
            <a:endParaRPr/>
          </a:p>
        </p:txBody>
      </p:sp>
      <p:pic>
        <p:nvPicPr>
          <p:cNvPr id="74" name="Google Shape;74;p15" descr="A screenshot of a compu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3087" y="1837944"/>
            <a:ext cx="2580218" cy="195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descr="A screenshot of a compu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67171" y="1841160"/>
            <a:ext cx="2605846" cy="195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descr="A screenshot of a computer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876" y="1839833"/>
            <a:ext cx="2580218" cy="1968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422</Words>
  <Application>Microsoft Office PowerPoint</Application>
  <PresentationFormat>On-screen Show (16:9)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Proxima Nova</vt:lpstr>
      <vt:lpstr>Spearmint</vt:lpstr>
      <vt:lpstr>OAK Lab - Relational Rule Learning Researcher: Helen Peng | Date: December 6, 2024</vt:lpstr>
      <vt:lpstr>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Helen Peng</cp:lastModifiedBy>
  <cp:revision>1</cp:revision>
  <dcterms:modified xsi:type="dcterms:W3CDTF">2025-04-07T15:54:28Z</dcterms:modified>
</cp:coreProperties>
</file>